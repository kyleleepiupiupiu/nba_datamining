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C64527-894D-4470-8713-6DA11AE87E17}">
  <a:tblStyle styleId="{35C64527-894D-4470-8713-6DA11AE87E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266FF98-1D06-43A7-9D5E-AB55F6D68D6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b169c649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b169c649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1b169c649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1b169c649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283904c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283904c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b169c649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b169c649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b169c649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1b169c649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b169c649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b169c64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1b169c649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1b169c649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b169c649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b169c649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b169c649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1b169c649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b169c649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b169c649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b169c649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b169c649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b169c649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b169c649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1b169c649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1b169c649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b169c649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b169c649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b169c649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b169c649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1b169c649f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1b169c649f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1b169c649f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1b169c649f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1b169c649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1b169c649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283904c6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2283904c6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1b169c649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1b169c649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1b169c649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1b169c649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22a4401bbc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22a4401bb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0.jpg"/><Relationship Id="rId5" Type="http://schemas.openxmlformats.org/officeDocument/2006/relationships/image" Target="../media/image2.jpg"/><Relationship Id="rId6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NBA Rookies Prediction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Jisun Lee, Yi Lee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Introduction of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Mining Pipeline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Preprocessing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Attribute Selection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Split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Classification Algorithms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Best Model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of Data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https://data.world/exercises/logistic-regression-exercise-1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The Dataset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Name: Name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GP: Games Played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MIN: MInutes Played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PTS: Points Per Game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FGM: Field Goals Made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FGA: </a:t>
            </a:r>
            <a:r>
              <a:rPr lang="en">
                <a:solidFill>
                  <a:schemeClr val="dk1"/>
                </a:solidFill>
              </a:rPr>
              <a:t>Field Goals Attempts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FG%: Field Goals Percentage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3PM: 3 Point Made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3PA: 3 Point Attempts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3P%: 3 Point Percentage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FTM: Free Throw Made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FTA: Free Throw Attempts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FT%: Free Throw Percentage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OREB: Offensive Rebounds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DREB: Defensive Rebounds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REB: Rebounds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AST: Assists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STL: Steals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BLK: Blocks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TOV: Turn Overs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TARGET_5Yrs: 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If career length &gt;= 5, outcome is 1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If career length &lt; 5, outcomes is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class attribute of the data: TARGET_5Yrs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Mining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Mining Pipeline</a:t>
            </a:r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183250" y="2362750"/>
            <a:ext cx="7200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1117500" y="2362750"/>
            <a:ext cx="11307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</a:t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2398200" y="2362750"/>
            <a:ext cx="11307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Test Split</a:t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3550450" y="1630325"/>
            <a:ext cx="11307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Set</a:t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3550450" y="3634750"/>
            <a:ext cx="11307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Set</a:t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4834550" y="1630325"/>
            <a:ext cx="11307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Attr. Select</a:t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6292850" y="2014750"/>
            <a:ext cx="609300" cy="348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A5Train</a:t>
            </a:r>
            <a:endParaRPr sz="800"/>
          </a:p>
        </p:txBody>
      </p:sp>
      <p:sp>
        <p:nvSpPr>
          <p:cNvPr id="92" name="Google Shape;92;p18"/>
          <p:cNvSpPr/>
          <p:nvPr/>
        </p:nvSpPr>
        <p:spPr>
          <a:xfrm>
            <a:off x="6292850" y="1590050"/>
            <a:ext cx="609300" cy="348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A4Train</a:t>
            </a:r>
            <a:endParaRPr sz="800"/>
          </a:p>
        </p:txBody>
      </p:sp>
      <p:sp>
        <p:nvSpPr>
          <p:cNvPr id="93" name="Google Shape;93;p18"/>
          <p:cNvSpPr/>
          <p:nvPr/>
        </p:nvSpPr>
        <p:spPr>
          <a:xfrm>
            <a:off x="6292850" y="1125725"/>
            <a:ext cx="609300" cy="348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A3Train</a:t>
            </a:r>
            <a:endParaRPr sz="800"/>
          </a:p>
        </p:txBody>
      </p:sp>
      <p:sp>
        <p:nvSpPr>
          <p:cNvPr id="94" name="Google Shape;94;p18"/>
          <p:cNvSpPr/>
          <p:nvPr/>
        </p:nvSpPr>
        <p:spPr>
          <a:xfrm>
            <a:off x="6292850" y="695700"/>
            <a:ext cx="609300" cy="348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A2Train</a:t>
            </a:r>
            <a:endParaRPr sz="800"/>
          </a:p>
        </p:txBody>
      </p:sp>
      <p:sp>
        <p:nvSpPr>
          <p:cNvPr id="95" name="Google Shape;95;p18"/>
          <p:cNvSpPr/>
          <p:nvPr/>
        </p:nvSpPr>
        <p:spPr>
          <a:xfrm>
            <a:off x="6292850" y="265675"/>
            <a:ext cx="609300" cy="348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A1Train</a:t>
            </a:r>
            <a:endParaRPr sz="800"/>
          </a:p>
        </p:txBody>
      </p:sp>
      <p:sp>
        <p:nvSpPr>
          <p:cNvPr id="96" name="Google Shape;96;p18"/>
          <p:cNvSpPr/>
          <p:nvPr/>
        </p:nvSpPr>
        <p:spPr>
          <a:xfrm>
            <a:off x="7486250" y="934025"/>
            <a:ext cx="11307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7452875" y="4365950"/>
            <a:ext cx="1257600" cy="348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</a:t>
            </a:r>
            <a:endParaRPr/>
          </a:p>
        </p:txBody>
      </p:sp>
      <p:cxnSp>
        <p:nvCxnSpPr>
          <p:cNvPr id="98" name="Google Shape;98;p18"/>
          <p:cNvCxnSpPr>
            <a:stCxn id="85" idx="3"/>
            <a:endCxn id="86" idx="1"/>
          </p:cNvCxnSpPr>
          <p:nvPr/>
        </p:nvCxnSpPr>
        <p:spPr>
          <a:xfrm>
            <a:off x="903250" y="2632600"/>
            <a:ext cx="21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8"/>
          <p:cNvCxnSpPr>
            <a:stCxn id="86" idx="3"/>
            <a:endCxn id="87" idx="1"/>
          </p:cNvCxnSpPr>
          <p:nvPr/>
        </p:nvCxnSpPr>
        <p:spPr>
          <a:xfrm>
            <a:off x="2248200" y="2632600"/>
            <a:ext cx="15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8"/>
          <p:cNvCxnSpPr>
            <a:endCxn id="89" idx="1"/>
          </p:cNvCxnSpPr>
          <p:nvPr/>
        </p:nvCxnSpPr>
        <p:spPr>
          <a:xfrm>
            <a:off x="2967550" y="2901700"/>
            <a:ext cx="582900" cy="100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8"/>
          <p:cNvCxnSpPr>
            <a:endCxn id="88" idx="1"/>
          </p:cNvCxnSpPr>
          <p:nvPr/>
        </p:nvCxnSpPr>
        <p:spPr>
          <a:xfrm flipH="1" rot="10800000">
            <a:off x="2963350" y="1900175"/>
            <a:ext cx="587100" cy="4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8"/>
          <p:cNvCxnSpPr>
            <a:endCxn id="90" idx="1"/>
          </p:cNvCxnSpPr>
          <p:nvPr/>
        </p:nvCxnSpPr>
        <p:spPr>
          <a:xfrm flipH="1" rot="10800000">
            <a:off x="4671950" y="1900175"/>
            <a:ext cx="1626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8"/>
          <p:cNvCxnSpPr>
            <a:endCxn id="91" idx="1"/>
          </p:cNvCxnSpPr>
          <p:nvPr/>
        </p:nvCxnSpPr>
        <p:spPr>
          <a:xfrm>
            <a:off x="5965250" y="1895050"/>
            <a:ext cx="327600" cy="2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8"/>
          <p:cNvCxnSpPr>
            <a:endCxn id="92" idx="1"/>
          </p:cNvCxnSpPr>
          <p:nvPr/>
        </p:nvCxnSpPr>
        <p:spPr>
          <a:xfrm flipH="1" rot="10800000">
            <a:off x="5955950" y="1764050"/>
            <a:ext cx="336900" cy="1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8"/>
          <p:cNvCxnSpPr>
            <a:stCxn id="90" idx="3"/>
            <a:endCxn id="93" idx="1"/>
          </p:cNvCxnSpPr>
          <p:nvPr/>
        </p:nvCxnSpPr>
        <p:spPr>
          <a:xfrm flipH="1" rot="10800000">
            <a:off x="5965250" y="1299575"/>
            <a:ext cx="327600" cy="6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8"/>
          <p:cNvCxnSpPr>
            <a:stCxn id="90" idx="3"/>
            <a:endCxn id="94" idx="1"/>
          </p:cNvCxnSpPr>
          <p:nvPr/>
        </p:nvCxnSpPr>
        <p:spPr>
          <a:xfrm flipH="1" rot="10800000">
            <a:off x="5965250" y="869675"/>
            <a:ext cx="327600" cy="10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8"/>
          <p:cNvCxnSpPr>
            <a:stCxn id="90" idx="3"/>
            <a:endCxn id="95" idx="1"/>
          </p:cNvCxnSpPr>
          <p:nvPr/>
        </p:nvCxnSpPr>
        <p:spPr>
          <a:xfrm flipH="1" rot="10800000">
            <a:off x="5965250" y="439775"/>
            <a:ext cx="327600" cy="14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8"/>
          <p:cNvCxnSpPr>
            <a:stCxn id="95" idx="3"/>
            <a:endCxn id="96" idx="1"/>
          </p:cNvCxnSpPr>
          <p:nvPr/>
        </p:nvCxnSpPr>
        <p:spPr>
          <a:xfrm>
            <a:off x="6902150" y="439675"/>
            <a:ext cx="584100" cy="76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>
            <a:stCxn id="94" idx="3"/>
            <a:endCxn id="96" idx="1"/>
          </p:cNvCxnSpPr>
          <p:nvPr/>
        </p:nvCxnSpPr>
        <p:spPr>
          <a:xfrm>
            <a:off x="6902150" y="869700"/>
            <a:ext cx="584100" cy="3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8"/>
          <p:cNvCxnSpPr>
            <a:stCxn id="93" idx="3"/>
            <a:endCxn id="96" idx="1"/>
          </p:cNvCxnSpPr>
          <p:nvPr/>
        </p:nvCxnSpPr>
        <p:spPr>
          <a:xfrm flipH="1" rot="10800000">
            <a:off x="6902150" y="1204025"/>
            <a:ext cx="5841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8"/>
          <p:cNvCxnSpPr>
            <a:stCxn id="92" idx="3"/>
            <a:endCxn id="96" idx="1"/>
          </p:cNvCxnSpPr>
          <p:nvPr/>
        </p:nvCxnSpPr>
        <p:spPr>
          <a:xfrm flipH="1" rot="10800000">
            <a:off x="6902150" y="1203950"/>
            <a:ext cx="584100" cy="5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8"/>
          <p:cNvCxnSpPr>
            <a:stCxn id="91" idx="3"/>
            <a:endCxn id="96" idx="1"/>
          </p:cNvCxnSpPr>
          <p:nvPr/>
        </p:nvCxnSpPr>
        <p:spPr>
          <a:xfrm flipH="1" rot="10800000">
            <a:off x="6902150" y="1203850"/>
            <a:ext cx="584100" cy="9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8"/>
          <p:cNvCxnSpPr>
            <a:stCxn id="96" idx="2"/>
          </p:cNvCxnSpPr>
          <p:nvPr/>
        </p:nvCxnSpPr>
        <p:spPr>
          <a:xfrm flipH="1">
            <a:off x="7828400" y="1473725"/>
            <a:ext cx="223200" cy="183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8"/>
          <p:cNvCxnSpPr>
            <a:stCxn id="89" idx="3"/>
          </p:cNvCxnSpPr>
          <p:nvPr/>
        </p:nvCxnSpPr>
        <p:spPr>
          <a:xfrm flipH="1" rot="10800000">
            <a:off x="4681150" y="3304000"/>
            <a:ext cx="3160200" cy="6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8"/>
          <p:cNvCxnSpPr>
            <a:endCxn id="97" idx="0"/>
          </p:cNvCxnSpPr>
          <p:nvPr/>
        </p:nvCxnSpPr>
        <p:spPr>
          <a:xfrm>
            <a:off x="7828475" y="3299750"/>
            <a:ext cx="253200" cy="106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R Programming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Data </a:t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0" y="572700"/>
            <a:ext cx="43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Take one row as an example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855" y="0"/>
            <a:ext cx="2895146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" name="Google Shape;129;p20"/>
          <p:cNvGraphicFramePr/>
          <p:nvPr/>
        </p:nvGraphicFramePr>
        <p:xfrm>
          <a:off x="263575" y="97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{35C64527-894D-4470-8713-6DA11AE87E17}</a:tableStyleId>
              </a:tblPr>
              <a:tblGrid>
                <a:gridCol w="910250"/>
                <a:gridCol w="1118800"/>
                <a:gridCol w="785125"/>
                <a:gridCol w="1494225"/>
              </a:tblGrid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Name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Brandon Ingram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FTM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GP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FTA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27.4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FT%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69.9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PTS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OREB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FGM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DREB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FGA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FG%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34.7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AST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3P Made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STL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3PA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BLK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3P%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TOV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0" name="Google Shape;130;p20"/>
          <p:cNvGraphicFramePr/>
          <p:nvPr/>
        </p:nvGraphicFramePr>
        <p:xfrm>
          <a:off x="4693625" y="3846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{35C64527-894D-4470-8713-6DA11AE87E17}</a:tableStyleId>
              </a:tblPr>
              <a:tblGrid>
                <a:gridCol w="1433575"/>
              </a:tblGrid>
              <a:tr h="4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TARGET_5Yrs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0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Order 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225" y="1002288"/>
            <a:ext cx="3371375" cy="33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050" y="885425"/>
            <a:ext cx="3776400" cy="377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21"/>
          <p:cNvGraphicFramePr/>
          <p:nvPr/>
        </p:nvGraphicFramePr>
        <p:xfrm>
          <a:off x="3748088" y="202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{C266FF98-1D06-43A7-9D5E-AB55F6D68D68}</a:tableStyleId>
              </a:tblPr>
              <a:tblGrid>
                <a:gridCol w="885825"/>
                <a:gridCol w="762000"/>
              </a:tblGrid>
              <a:tr h="190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Outstanding 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mean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 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</a:t>
            </a:r>
            <a:r>
              <a:rPr lang="en"/>
              <a:t>Order 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3875"/>
            <a:ext cx="3745900" cy="374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4300" y="1096975"/>
            <a:ext cx="3679700" cy="3679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" name="Google Shape;146;p22"/>
          <p:cNvGraphicFramePr/>
          <p:nvPr/>
        </p:nvGraphicFramePr>
        <p:xfrm>
          <a:off x="3695650" y="198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{C266FF98-1D06-43A7-9D5E-AB55F6D68D68}</a:tableStyleId>
              </a:tblPr>
              <a:tblGrid>
                <a:gridCol w="819150"/>
                <a:gridCol w="8001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Q3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Q1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Columns</a:t>
            </a:r>
            <a:endParaRPr/>
          </a:p>
        </p:txBody>
      </p:sp>
      <p:graphicFrame>
        <p:nvGraphicFramePr>
          <p:cNvPr id="152" name="Google Shape;152;p23"/>
          <p:cNvGraphicFramePr/>
          <p:nvPr/>
        </p:nvGraphicFramePr>
        <p:xfrm>
          <a:off x="952500" y="1169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{35C64527-894D-4470-8713-6DA11AE87E17}</a:tableStyleId>
              </a:tblPr>
              <a:tblGrid>
                <a:gridCol w="1667225"/>
                <a:gridCol w="5571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rule_180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FG% + 3P% + FT%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STL_TOV_ration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Steal to Turnover ratio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Double_time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Times of </a:t>
                      </a:r>
                      <a:r>
                        <a:rPr lang="en"/>
                        <a:t>achieving</a:t>
                      </a:r>
                      <a:r>
                        <a:rPr lang="en"/>
                        <a:t> double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EEF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efficiency of a player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PTS + REB + AST + BLK - Missed FG - Missed FT - TOV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EEF_GPE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efficiency per game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EEF_MIN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efficiency per minute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Data </a:t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0" y="572700"/>
            <a:ext cx="43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Take one row as an example</a:t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855" y="0"/>
            <a:ext cx="2895146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4"/>
          <p:cNvGraphicFramePr/>
          <p:nvPr/>
        </p:nvGraphicFramePr>
        <p:xfrm>
          <a:off x="263575" y="97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{35C64527-894D-4470-8713-6DA11AE87E17}</a:tableStyleId>
              </a:tblPr>
              <a:tblGrid>
                <a:gridCol w="677325"/>
                <a:gridCol w="832550"/>
                <a:gridCol w="584225"/>
                <a:gridCol w="617700"/>
                <a:gridCol w="1606075"/>
                <a:gridCol w="1111875"/>
              </a:tblGrid>
              <a:tr h="53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Name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Brandon Ingram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FTM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rule_180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131.7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6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GP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FTA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STL_TOV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6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FT%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double_time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7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PTS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6.4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OREB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EEF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7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FGM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DREB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EEF_GP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0.1219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6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FGA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4.7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REB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4.6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EEF_MIN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0.5319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FG%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AST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TARGET_5Yrs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3P Made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gridSpan="2"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4CCCC"/>
                          </a:highlight>
                        </a:rPr>
                        <a:t>Red = New Columns</a:t>
                      </a:r>
                      <a:endParaRPr sz="1000">
                        <a:highlight>
                          <a:srgbClr val="F4CCCC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2CC"/>
                          </a:highlight>
                        </a:rPr>
                        <a:t>Yellow = Three Order</a:t>
                      </a:r>
                      <a:endParaRPr sz="1000">
                        <a:highlight>
                          <a:srgbClr val="FFF2CC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C9DAF8"/>
                          </a:highlight>
                        </a:rPr>
                        <a:t>Blue = Two Order</a:t>
                      </a:r>
                      <a:endParaRPr sz="1000">
                        <a:highlight>
                          <a:srgbClr val="C9DA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Transparent = </a:t>
                      </a:r>
                      <a:r>
                        <a:rPr lang="en" sz="1000"/>
                        <a:t>Numeric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 hMerge="1"/>
              </a:tr>
              <a:tr h="30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3PA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BLK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gridSpan="2" vMerge="1"/>
                <a:tc hMerge="1" vMerge="1"/>
              </a:tr>
              <a:tr h="30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3P%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TOV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 gridSpan="2" vMerge="1"/>
                <a:tc hMerge="1" v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 Selection</a:t>
            </a:r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Weka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</a:t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260675" y="567050"/>
            <a:ext cx="8686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Three types of data type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Only one selecting algorithm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 sz="1200">
                <a:solidFill>
                  <a:schemeClr val="dk1"/>
                </a:solidFill>
              </a:rPr>
              <a:t>InfoGainAttributeEval algorithm from Weka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50" y="1090550"/>
            <a:ext cx="1662041" cy="128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2030" y="1090550"/>
            <a:ext cx="1662041" cy="12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2709" y="1090550"/>
            <a:ext cx="1662041" cy="12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5900" y="3098075"/>
            <a:ext cx="2598200" cy="18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</a:t>
            </a:r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260675" y="795650"/>
            <a:ext cx="868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Five different </a:t>
            </a:r>
            <a:r>
              <a:rPr lang="en"/>
              <a:t>groups of attribute selection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Picking from five sub attribute group, rather than picking from all attributes with five algorithms</a:t>
            </a:r>
            <a:endParaRPr/>
          </a:p>
        </p:txBody>
      </p:sp>
      <p:graphicFrame>
        <p:nvGraphicFramePr>
          <p:cNvPr id="183" name="Google Shape;183;p27"/>
          <p:cNvGraphicFramePr/>
          <p:nvPr/>
        </p:nvGraphicFramePr>
        <p:xfrm>
          <a:off x="952500" y="184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{35C64527-894D-4470-8713-6DA11AE87E17}</a:tableStyleId>
              </a:tblPr>
              <a:tblGrid>
                <a:gridCol w="440325"/>
                <a:gridCol w="2516825"/>
                <a:gridCol w="4281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Pick From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Attribute Combination Result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Numeric Attributes Only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EEF + PTS + FTM + EEF_MIN + FGA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Three Order Attributes Only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 + FTM + MIN + FG% + TOV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 Order Attributes Only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AST + BLK + DREB + OREB + STL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 Order Attributes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 + FTM + OREB + MIN + FG%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 Attributes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EEF + GP + FTM + PTS + FTA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Split</a:t>
            </a:r>
            <a:endParaRPr/>
          </a:p>
        </p:txBody>
      </p:sp>
      <p:sp>
        <p:nvSpPr>
          <p:cNvPr id="189" name="Google Shape;189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R Programming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Split</a:t>
            </a:r>
            <a:endParaRPr/>
          </a:p>
        </p:txBody>
      </p:sp>
      <p:sp>
        <p:nvSpPr>
          <p:cNvPr id="195" name="Google Shape;195;p29"/>
          <p:cNvSpPr txBox="1"/>
          <p:nvPr/>
        </p:nvSpPr>
        <p:spPr>
          <a:xfrm>
            <a:off x="207800" y="859700"/>
            <a:ext cx="8593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First Split: train test split from total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Randomly Split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6" name="Google Shape;196;p29"/>
          <p:cNvGraphicFramePr/>
          <p:nvPr/>
        </p:nvGraphicFramePr>
        <p:xfrm>
          <a:off x="501975" y="194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{35C64527-894D-4470-8713-6DA11AE87E17}</a:tableStyleId>
              </a:tblPr>
              <a:tblGrid>
                <a:gridCol w="1156800"/>
                <a:gridCol w="1156800"/>
                <a:gridCol w="1156800"/>
                <a:gridCol w="11568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YES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Testing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192 (37.3%)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322 (62.6%)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Training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392 (39.2%)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607 (60.7%)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999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929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1513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97" name="Google Shape;197;p29"/>
          <p:cNvSpPr/>
          <p:nvPr/>
        </p:nvSpPr>
        <p:spPr>
          <a:xfrm>
            <a:off x="5911050" y="2464350"/>
            <a:ext cx="7200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</a:t>
            </a:r>
            <a:endParaRPr/>
          </a:p>
        </p:txBody>
      </p:sp>
      <p:sp>
        <p:nvSpPr>
          <p:cNvPr id="198" name="Google Shape;198;p29"/>
          <p:cNvSpPr/>
          <p:nvPr/>
        </p:nvSpPr>
        <p:spPr>
          <a:xfrm>
            <a:off x="7492350" y="3019325"/>
            <a:ext cx="7200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</a:t>
            </a: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7492350" y="1779325"/>
            <a:ext cx="7200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</a:t>
            </a:r>
            <a:endParaRPr/>
          </a:p>
        </p:txBody>
      </p:sp>
      <p:cxnSp>
        <p:nvCxnSpPr>
          <p:cNvPr id="200" name="Google Shape;200;p29"/>
          <p:cNvCxnSpPr>
            <a:stCxn id="197" idx="3"/>
            <a:endCxn id="199" idx="1"/>
          </p:cNvCxnSpPr>
          <p:nvPr/>
        </p:nvCxnSpPr>
        <p:spPr>
          <a:xfrm flipH="1" rot="10800000">
            <a:off x="6631050" y="2049300"/>
            <a:ext cx="861300" cy="6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9"/>
          <p:cNvCxnSpPr>
            <a:stCxn id="197" idx="3"/>
            <a:endCxn id="198" idx="1"/>
          </p:cNvCxnSpPr>
          <p:nvPr/>
        </p:nvCxnSpPr>
        <p:spPr>
          <a:xfrm>
            <a:off x="6631050" y="2734200"/>
            <a:ext cx="861300" cy="55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9"/>
          <p:cNvSpPr txBox="1"/>
          <p:nvPr/>
        </p:nvSpPr>
        <p:spPr>
          <a:xfrm>
            <a:off x="6710550" y="2049300"/>
            <a:ext cx="15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66%</a:t>
            </a:r>
            <a:endParaRPr/>
          </a:p>
        </p:txBody>
      </p:sp>
      <p:sp>
        <p:nvSpPr>
          <p:cNvPr id="203" name="Google Shape;203;p29"/>
          <p:cNvSpPr txBox="1"/>
          <p:nvPr/>
        </p:nvSpPr>
        <p:spPr>
          <a:xfrm>
            <a:off x="6631050" y="2889000"/>
            <a:ext cx="15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</a:t>
            </a:r>
            <a:r>
              <a:rPr lang="en"/>
              <a:t>%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Split</a:t>
            </a:r>
            <a:endParaRPr/>
          </a:p>
        </p:txBody>
      </p:sp>
      <p:sp>
        <p:nvSpPr>
          <p:cNvPr id="209" name="Google Shape;209;p30"/>
          <p:cNvSpPr/>
          <p:nvPr/>
        </p:nvSpPr>
        <p:spPr>
          <a:xfrm>
            <a:off x="2503750" y="2366925"/>
            <a:ext cx="7200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</a:t>
            </a:r>
            <a:endParaRPr/>
          </a:p>
        </p:txBody>
      </p:sp>
      <p:sp>
        <p:nvSpPr>
          <p:cNvPr id="210" name="Google Shape;210;p30"/>
          <p:cNvSpPr/>
          <p:nvPr/>
        </p:nvSpPr>
        <p:spPr>
          <a:xfrm>
            <a:off x="4085050" y="2921900"/>
            <a:ext cx="7200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</a:t>
            </a:r>
            <a:endParaRPr/>
          </a:p>
        </p:txBody>
      </p:sp>
      <p:sp>
        <p:nvSpPr>
          <p:cNvPr id="211" name="Google Shape;211;p30"/>
          <p:cNvSpPr/>
          <p:nvPr/>
        </p:nvSpPr>
        <p:spPr>
          <a:xfrm>
            <a:off x="4085050" y="1681900"/>
            <a:ext cx="720000" cy="539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</a:t>
            </a:r>
            <a:endParaRPr/>
          </a:p>
        </p:txBody>
      </p:sp>
      <p:cxnSp>
        <p:nvCxnSpPr>
          <p:cNvPr id="212" name="Google Shape;212;p30"/>
          <p:cNvCxnSpPr>
            <a:stCxn id="209" idx="3"/>
            <a:endCxn id="211" idx="1"/>
          </p:cNvCxnSpPr>
          <p:nvPr/>
        </p:nvCxnSpPr>
        <p:spPr>
          <a:xfrm flipH="1" rot="10800000">
            <a:off x="3223750" y="1951875"/>
            <a:ext cx="861300" cy="6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0"/>
          <p:cNvCxnSpPr>
            <a:stCxn id="209" idx="3"/>
            <a:endCxn id="210" idx="1"/>
          </p:cNvCxnSpPr>
          <p:nvPr/>
        </p:nvCxnSpPr>
        <p:spPr>
          <a:xfrm>
            <a:off x="3223750" y="2636775"/>
            <a:ext cx="861300" cy="55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30"/>
          <p:cNvSpPr txBox="1"/>
          <p:nvPr/>
        </p:nvSpPr>
        <p:spPr>
          <a:xfrm>
            <a:off x="2825500" y="1876775"/>
            <a:ext cx="15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66%</a:t>
            </a:r>
            <a:endParaRPr/>
          </a:p>
        </p:txBody>
      </p:sp>
      <p:sp>
        <p:nvSpPr>
          <p:cNvPr id="215" name="Google Shape;215;p30"/>
          <p:cNvSpPr txBox="1"/>
          <p:nvPr/>
        </p:nvSpPr>
        <p:spPr>
          <a:xfrm>
            <a:off x="2820075" y="2921900"/>
            <a:ext cx="15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34%</a:t>
            </a:r>
            <a:endParaRPr/>
          </a:p>
        </p:txBody>
      </p:sp>
      <p:sp>
        <p:nvSpPr>
          <p:cNvPr id="216" name="Google Shape;216;p30"/>
          <p:cNvSpPr/>
          <p:nvPr/>
        </p:nvSpPr>
        <p:spPr>
          <a:xfrm>
            <a:off x="6629400" y="122500"/>
            <a:ext cx="1072800" cy="2099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A1Train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A2Train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A3Train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A4Train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A5Train</a:t>
            </a:r>
            <a:endParaRPr/>
          </a:p>
        </p:txBody>
      </p:sp>
      <p:sp>
        <p:nvSpPr>
          <p:cNvPr id="217" name="Google Shape;217;p30"/>
          <p:cNvSpPr/>
          <p:nvPr/>
        </p:nvSpPr>
        <p:spPr>
          <a:xfrm>
            <a:off x="6629400" y="2791575"/>
            <a:ext cx="1072800" cy="2099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A1Test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A2Test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A3Test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A4Test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A5Test</a:t>
            </a:r>
            <a:endParaRPr/>
          </a:p>
        </p:txBody>
      </p:sp>
      <p:cxnSp>
        <p:nvCxnSpPr>
          <p:cNvPr id="218" name="Google Shape;218;p30"/>
          <p:cNvCxnSpPr>
            <a:stCxn id="211" idx="3"/>
            <a:endCxn id="216" idx="1"/>
          </p:cNvCxnSpPr>
          <p:nvPr/>
        </p:nvCxnSpPr>
        <p:spPr>
          <a:xfrm flipH="1" rot="10800000">
            <a:off x="4805050" y="1172050"/>
            <a:ext cx="1824300" cy="77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0"/>
          <p:cNvCxnSpPr>
            <a:stCxn id="210" idx="3"/>
            <a:endCxn id="217" idx="1"/>
          </p:cNvCxnSpPr>
          <p:nvPr/>
        </p:nvCxnSpPr>
        <p:spPr>
          <a:xfrm>
            <a:off x="4805050" y="3191750"/>
            <a:ext cx="1824300" cy="6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30"/>
          <p:cNvSpPr txBox="1"/>
          <p:nvPr/>
        </p:nvSpPr>
        <p:spPr>
          <a:xfrm>
            <a:off x="3367150" y="2334175"/>
            <a:ext cx="50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based on the attribute groups</a:t>
            </a:r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0" y="701388"/>
            <a:ext cx="859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Second Split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Split into five subsets based on the attribute groups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Algorithms</a:t>
            </a:r>
            <a:endParaRPr/>
          </a:p>
        </p:txBody>
      </p:sp>
      <p:sp>
        <p:nvSpPr>
          <p:cNvPr id="227" name="Google Shape;227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Weka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Classification Methods	</a:t>
            </a:r>
            <a:endParaRPr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311700" y="836750"/>
            <a:ext cx="8520600" cy="3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Naive Bayes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Sophisticated classification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value of the feature is independent of another feature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Logistic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Estimate the parameters of a logistic model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Finds the probability of success and failure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AdaBoost M1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Boost the performance of decision trees on binary classification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Combine weak base learners; combine strong base learners and provide a more accurate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Multilayer Perceptron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Utilizes a supervised learning technique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Distinguishes data that is no linearly separable.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Random Forest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most used supervised learning algorithm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Identify significant information from massive datasets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Model</a:t>
            </a:r>
            <a:endParaRPr/>
          </a:p>
        </p:txBody>
      </p:sp>
      <p:sp>
        <p:nvSpPr>
          <p:cNvPr id="239" name="Google Shape;239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with Weka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Model</a:t>
            </a:r>
            <a:endParaRPr/>
          </a:p>
        </p:txBody>
      </p:sp>
      <p:sp>
        <p:nvSpPr>
          <p:cNvPr id="245" name="Google Shape;245;p34"/>
          <p:cNvSpPr txBox="1"/>
          <p:nvPr/>
        </p:nvSpPr>
        <p:spPr>
          <a:xfrm>
            <a:off x="224475" y="663350"/>
            <a:ext cx="8776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Decision Criteria: Precision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Tuples labeled as positive are actually positive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Invest on the right player in the rookie year if he has potential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Best Model: </a:t>
            </a:r>
            <a:r>
              <a:rPr lang="en">
                <a:solidFill>
                  <a:schemeClr val="dk1"/>
                </a:solidFill>
              </a:rPr>
              <a:t>Naïve Bayes with EEF + GP + FTM + PTS + FTA</a:t>
            </a:r>
            <a:endParaRPr/>
          </a:p>
        </p:txBody>
      </p:sp>
      <p:pic>
        <p:nvPicPr>
          <p:cNvPr id="246" name="Google Shape;246;p34"/>
          <p:cNvPicPr preferRelativeResize="0"/>
          <p:nvPr/>
        </p:nvPicPr>
        <p:blipFill rotWithShape="1">
          <a:blip r:embed="rId3">
            <a:alphaModFix/>
          </a:blip>
          <a:srcRect b="0" l="0" r="0" t="3846"/>
          <a:stretch/>
        </p:blipFill>
        <p:spPr>
          <a:xfrm>
            <a:off x="778575" y="1502475"/>
            <a:ext cx="2866200" cy="614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34"/>
          <p:cNvGraphicFramePr/>
          <p:nvPr/>
        </p:nvGraphicFramePr>
        <p:xfrm>
          <a:off x="778575" y="283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{35C64527-894D-4470-8713-6DA11AE87E17}</a:tableStyleId>
              </a:tblPr>
              <a:tblGrid>
                <a:gridCol w="1618250"/>
                <a:gridCol w="1618250"/>
                <a:gridCol w="1618250"/>
              </a:tblGrid>
              <a:tr h="30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Precision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Class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0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Weighted Avg.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48" name="Google Shape;248;p34"/>
          <p:cNvSpPr txBox="1"/>
          <p:nvPr/>
        </p:nvSpPr>
        <p:spPr>
          <a:xfrm>
            <a:off x="5898350" y="3212700"/>
            <a:ext cx="269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Assume the team </a:t>
            </a:r>
            <a:r>
              <a:rPr lang="en" sz="1200"/>
              <a:t>owner cares whether a player could survive after five years of career.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